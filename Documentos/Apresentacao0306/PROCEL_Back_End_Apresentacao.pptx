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06/03/2026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06/03/2026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PROCEL Back-End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t>Sistema de Monitoramento Inteligente de Energia e Ocupação</a:t>
            </a:r>
          </a:p>
          <a:p>
            <a:r>
              <a:t>Projeto UFPEL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completa para monitoramento energético e de ocupação em prédios da UFPEL.</a:t>
            </a:r>
          </a:p>
          <a:p>
            <a:pPr lvl="1"/>
            <a:r>
              <a:t>Monitorar em tempo real consumo de energia (total, AC, iluminação)</a:t>
            </a:r>
          </a:p>
          <a:p>
            <a:pPr lvl="1"/>
            <a:r>
              <a:t>Rastrear ocupação de salas via sensores e check-in/check-out manual</a:t>
            </a:r>
          </a:p>
          <a:p>
            <a:pPr lvl="1"/>
            <a:r>
              <a:t>Coletar dados ambientais: temperatura, umidade, ruído, presença</a:t>
            </a:r>
          </a:p>
          <a:p>
            <a:pPr lvl="1"/>
            <a:r>
              <a:t>Fornecer dados processados para visualização e gamificação</a:t>
            </a:r>
          </a:p>
          <a:p>
            <a:pPr lvl="1"/>
            <a:r>
              <a:t>Integrar múltiplas fontes: sensores IoT, APIs externas, bancos de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Arquitetura</a:t>
            </a:r>
            <a:r>
              <a:rPr dirty="0"/>
              <a:t>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576" y="3065669"/>
            <a:ext cx="4175346" cy="3123096"/>
          </a:xfrm>
        </p:spPr>
        <p:txBody>
          <a:bodyPr>
            <a:normAutofit/>
          </a:bodyPr>
          <a:lstStyle/>
          <a:p>
            <a:r>
              <a:rPr dirty="0" err="1">
                <a:solidFill>
                  <a:schemeClr val="bg1"/>
                </a:solidFill>
              </a:rPr>
              <a:t>Fluxo</a:t>
            </a:r>
            <a:r>
              <a:rPr dirty="0">
                <a:solidFill>
                  <a:schemeClr val="bg1"/>
                </a:solidFill>
              </a:rPr>
              <a:t> principal:</a:t>
            </a:r>
          </a:p>
          <a:p>
            <a:pPr lvl="1"/>
            <a:r>
              <a:rPr dirty="0" err="1">
                <a:solidFill>
                  <a:schemeClr val="bg1"/>
                </a:solidFill>
              </a:rPr>
              <a:t>Sensores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Sii</a:t>
            </a:r>
            <a:r>
              <a:rPr dirty="0">
                <a:solidFill>
                  <a:schemeClr val="bg1"/>
                </a:solidFill>
              </a:rPr>
              <a:t> Smart → API </a:t>
            </a:r>
            <a:r>
              <a:rPr dirty="0" err="1">
                <a:solidFill>
                  <a:schemeClr val="bg1"/>
                </a:solidFill>
              </a:rPr>
              <a:t>Sii</a:t>
            </a:r>
            <a:r>
              <a:rPr dirty="0">
                <a:solidFill>
                  <a:schemeClr val="bg1"/>
                </a:solidFill>
              </a:rPr>
              <a:t> Smart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PROCEL Ingestion coleta e </a:t>
            </a:r>
            <a:r>
              <a:rPr dirty="0" err="1">
                <a:solidFill>
                  <a:schemeClr val="bg1"/>
                </a:solidFill>
              </a:rPr>
              <a:t>processa</a:t>
            </a:r>
            <a:r>
              <a:rPr dirty="0">
                <a:solidFill>
                  <a:schemeClr val="bg1"/>
                </a:solidFill>
              </a:rPr>
              <a:t> dados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MongoDB → dados </a:t>
            </a:r>
            <a:r>
              <a:rPr dirty="0" err="1">
                <a:solidFill>
                  <a:schemeClr val="bg1"/>
                </a:solidFill>
              </a:rPr>
              <a:t>brutos</a:t>
            </a:r>
            <a:endParaRPr dirty="0">
              <a:solidFill>
                <a:schemeClr val="bg1"/>
              </a:solidFill>
            </a:endParaRPr>
          </a:p>
          <a:p>
            <a:pPr lvl="1"/>
            <a:r>
              <a:rPr dirty="0">
                <a:solidFill>
                  <a:schemeClr val="bg1"/>
                </a:solidFill>
              </a:rPr>
              <a:t>PostgreSQL → dados </a:t>
            </a:r>
            <a:r>
              <a:rPr dirty="0" err="1">
                <a:solidFill>
                  <a:schemeClr val="bg1"/>
                </a:solidFill>
              </a:rPr>
              <a:t>processados</a:t>
            </a:r>
            <a:r>
              <a:rPr dirty="0">
                <a:solidFill>
                  <a:schemeClr val="bg1"/>
                </a:solidFill>
              </a:rPr>
              <a:t> / </a:t>
            </a:r>
            <a:r>
              <a:rPr dirty="0" err="1">
                <a:solidFill>
                  <a:schemeClr val="bg1"/>
                </a:solidFill>
              </a:rPr>
              <a:t>gamificação</a:t>
            </a:r>
            <a:endParaRPr dirty="0">
              <a:solidFill>
                <a:schemeClr val="bg1"/>
              </a:solidFill>
            </a:endParaRPr>
          </a:p>
          <a:p>
            <a:pPr lvl="1"/>
            <a:r>
              <a:rPr dirty="0" err="1">
                <a:solidFill>
                  <a:schemeClr val="bg1"/>
                </a:solidFill>
              </a:rPr>
              <a:t>Camadas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Validação</a:t>
            </a:r>
            <a:r>
              <a:rPr dirty="0">
                <a:solidFill>
                  <a:schemeClr val="bg1"/>
                </a:solidFill>
              </a:rPr>
              <a:t> → Pré-proc (8s) → Pós-proc (3d)</a:t>
            </a:r>
          </a:p>
        </p:txBody>
      </p:sp>
      <p:pic>
        <p:nvPicPr>
          <p:cNvPr id="7" name="Imagem 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9DE2C43-A806-3168-3C2D-2B9DF324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087" y="0"/>
            <a:ext cx="753291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Dados Capturados pelos Sensores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2120900"/>
            <a:ext cx="10209349" cy="3748193"/>
          </a:xfrm>
        </p:spPr>
        <p:txBody>
          <a:bodyPr>
            <a:normAutofit fontScale="85000" lnSpcReduction="10000"/>
          </a:bodyPr>
          <a:lstStyle/>
          <a:p>
            <a:r>
              <a:rPr dirty="0" err="1"/>
              <a:t>Sensores</a:t>
            </a:r>
            <a:r>
              <a:rPr dirty="0"/>
              <a:t> </a:t>
            </a:r>
            <a:r>
              <a:rPr dirty="0" err="1"/>
              <a:t>Internos</a:t>
            </a:r>
            <a:r>
              <a:rPr dirty="0"/>
              <a:t> (</a:t>
            </a:r>
            <a:r>
              <a:rPr dirty="0" err="1"/>
              <a:t>Sii</a:t>
            </a:r>
            <a:r>
              <a:rPr dirty="0"/>
              <a:t> Smart):</a:t>
            </a:r>
            <a:endParaRPr lang="pt-BR" dirty="0"/>
          </a:p>
          <a:p>
            <a:endParaRPr lang="pt-BR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Temperatura: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Monitoramento térmico em tempo real do ambiente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Umidade: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Medição da umidade relativa do ar interna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Presença (Pessoas):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Detecção de ocupação via sensores de movimento/presença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Ruído Ambiente: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Captação do nível sonoro (dB) para análise de atividade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Consumo de Energia Total (Sala):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Medição agregada de toda a carga elétrica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Consumo de Ar-condicionado: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Monitoramento específico da carga de climatização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Consumo de Iluminação: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Rastreamento do gasto energético do sistema de luzes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Consumo do Circuito da Sala: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Monitoramento geral do circuito, com suporte a granularidade por tomada caso sensores individuais sejam instalados (atendendo tanto o caso geral quanto o específico)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Set point do Ar-condicionado: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Registro da temperatura configurada no termostato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Status do Ar-condicionado: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Indicador binário de estado (ligado ou desligado)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t-BR" altLang="pt-BR" sz="2000" b="1" dirty="0">
                <a:solidFill>
                  <a:schemeClr val="tx2"/>
                </a:solidFill>
                <a:latin typeface="Arial" panose="020B0604020202020204" pitchFamily="34" charset="0"/>
              </a:rPr>
              <a:t>Status de Iluminação:</a:t>
            </a:r>
            <a:r>
              <a:rPr lang="pt-BR" altLang="pt-BR" sz="2000" dirty="0">
                <a:solidFill>
                  <a:schemeClr val="tx2"/>
                </a:solidFill>
                <a:latin typeface="Arial" panose="020B0604020202020204" pitchFamily="34" charset="0"/>
              </a:rPr>
              <a:t> Indicador binário de estado (ligado ou desligado) </a:t>
            </a:r>
          </a:p>
          <a:p>
            <a:endParaRPr dirty="0"/>
          </a:p>
          <a:p>
            <a:pPr marL="201168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t>Modelo de Dados (DER)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8EF5FA6-553D-A534-904C-1B3BB524B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891" y="976439"/>
            <a:ext cx="7244573" cy="490512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700" err="1"/>
              <a:t>Hierarquia</a:t>
            </a:r>
            <a:r>
              <a:rPr lang="pt-BR" sz="1700"/>
              <a:t>: Campus → </a:t>
            </a:r>
            <a:r>
              <a:rPr lang="pt-BR" sz="1700" err="1"/>
              <a:t>Prédio</a:t>
            </a:r>
            <a:r>
              <a:rPr lang="pt-BR" sz="1700"/>
              <a:t> → </a:t>
            </a:r>
            <a:r>
              <a:rPr lang="pt-BR" sz="1700" err="1"/>
              <a:t>Compartimento</a:t>
            </a:r>
            <a:r>
              <a:rPr lang="pt-BR" sz="1700"/>
              <a:t> → </a:t>
            </a:r>
            <a:r>
              <a:rPr lang="pt-BR" sz="1700" err="1"/>
              <a:t>Unidade</a:t>
            </a:r>
            <a:endParaRPr lang="pt-BR" sz="1700"/>
          </a:p>
          <a:p>
            <a:pPr lvl="1"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Sensor → </a:t>
            </a:r>
            <a:r>
              <a:rPr lang="pt-BR" sz="1700" err="1">
                <a:solidFill>
                  <a:srgbClr val="FFFFFF"/>
                </a:solidFill>
              </a:rPr>
              <a:t>TipoDeSensor</a:t>
            </a:r>
            <a:r>
              <a:rPr lang="pt-BR" sz="1700">
                <a:solidFill>
                  <a:srgbClr val="FFFFFF"/>
                </a:solidFill>
              </a:rPr>
              <a:t> → </a:t>
            </a:r>
            <a:r>
              <a:rPr lang="pt-BR" sz="1700" err="1">
                <a:solidFill>
                  <a:srgbClr val="FFFFFF"/>
                </a:solidFill>
              </a:rPr>
              <a:t>ParametroDef</a:t>
            </a:r>
            <a:r>
              <a:rPr lang="pt-BR" sz="1700">
                <a:solidFill>
                  <a:srgbClr val="FFFFFF"/>
                </a:solidFill>
              </a:rPr>
              <a:t> → </a:t>
            </a:r>
            <a:r>
              <a:rPr lang="pt-BR" sz="1700" err="1">
                <a:solidFill>
                  <a:srgbClr val="FFFFFF"/>
                </a:solidFill>
              </a:rPr>
              <a:t>ParametroValor</a:t>
            </a:r>
            <a:endParaRPr lang="pt-BR" sz="170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</a:pPr>
            <a:r>
              <a:rPr lang="pt-BR" sz="1700" err="1">
                <a:solidFill>
                  <a:srgbClr val="FFFFFF"/>
                </a:solidFill>
              </a:rPr>
              <a:t>Medição</a:t>
            </a:r>
            <a:r>
              <a:rPr lang="pt-BR" sz="1700">
                <a:solidFill>
                  <a:srgbClr val="FFFFFF"/>
                </a:solidFill>
              </a:rPr>
              <a:t>: timestamp, source, </a:t>
            </a:r>
            <a:r>
              <a:rPr lang="pt-BR" sz="1700" err="1">
                <a:solidFill>
                  <a:srgbClr val="FFFFFF"/>
                </a:solidFill>
              </a:rPr>
              <a:t>recebidoEm</a:t>
            </a:r>
            <a:endParaRPr lang="pt-BR" sz="170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Pessoa: </a:t>
            </a:r>
            <a:r>
              <a:rPr lang="pt-BR" sz="1700" err="1">
                <a:solidFill>
                  <a:srgbClr val="FFFFFF"/>
                </a:solidFill>
              </a:rPr>
              <a:t>userId</a:t>
            </a:r>
            <a:r>
              <a:rPr lang="pt-BR" sz="1700">
                <a:solidFill>
                  <a:srgbClr val="FFFFFF"/>
                </a:solidFill>
              </a:rPr>
              <a:t>, email, </a:t>
            </a:r>
            <a:r>
              <a:rPr lang="pt-BR" sz="1700" err="1">
                <a:solidFill>
                  <a:srgbClr val="FFFFFF"/>
                </a:solidFill>
              </a:rPr>
              <a:t>matrícula</a:t>
            </a:r>
            <a:r>
              <a:rPr lang="pt-BR" sz="1700">
                <a:solidFill>
                  <a:srgbClr val="FFFFFF"/>
                </a:solidFill>
              </a:rPr>
              <a:t>, </a:t>
            </a:r>
            <a:r>
              <a:rPr lang="pt-BR" sz="1700" err="1">
                <a:solidFill>
                  <a:srgbClr val="FFFFFF"/>
                </a:solidFill>
              </a:rPr>
              <a:t>telefone</a:t>
            </a:r>
            <a:endParaRPr lang="pt-BR" sz="170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</a:pPr>
            <a:r>
              <a:rPr lang="pt-BR" sz="1700" err="1">
                <a:solidFill>
                  <a:srgbClr val="FFFFFF"/>
                </a:solidFill>
              </a:rPr>
              <a:t>Presença</a:t>
            </a:r>
            <a:r>
              <a:rPr lang="pt-BR" sz="1700">
                <a:solidFill>
                  <a:srgbClr val="FFFFFF"/>
                </a:solidFill>
              </a:rPr>
              <a:t>: </a:t>
            </a:r>
            <a:r>
              <a:rPr lang="pt-BR" sz="1700" err="1">
                <a:solidFill>
                  <a:srgbClr val="FFFFFF"/>
                </a:solidFill>
              </a:rPr>
              <a:t>checkin_em</a:t>
            </a:r>
            <a:r>
              <a:rPr lang="pt-BR" sz="1700">
                <a:solidFill>
                  <a:srgbClr val="FFFFFF"/>
                </a:solidFill>
              </a:rPr>
              <a:t>, </a:t>
            </a:r>
            <a:r>
              <a:rPr lang="pt-BR" sz="1700" err="1">
                <a:solidFill>
                  <a:srgbClr val="FFFFFF"/>
                </a:solidFill>
              </a:rPr>
              <a:t>checkout_em</a:t>
            </a:r>
            <a:r>
              <a:rPr lang="pt-BR" sz="1700">
                <a:solidFill>
                  <a:srgbClr val="FFFFFF"/>
                </a:solidFill>
              </a:rPr>
              <a:t>, source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C995FFA5-318A-9767-38A7-4B40A3EB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6F5D5688-1774-4625-9E74-88EA94DB2550}" type="datetime1">
              <a:rPr lang="pt-BR" smtClean="0"/>
              <a:pPr rtl="0">
                <a:spcAft>
                  <a:spcPts val="600"/>
                </a:spcAft>
              </a:pPr>
              <a:t>06/03/2026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de Instâncias do 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Hierarquia Espacial:</a:t>
            </a:r>
          </a:p>
          <a:p>
            <a:pPr lvl="1"/>
            <a:r>
              <a:t>Campus: Campus Centro (UFPEL)</a:t>
            </a:r>
          </a:p>
          <a:p>
            <a:pPr lvl="1"/>
            <a:r>
              <a:t>  └ Prédio: Prédio A — Centro</a:t>
            </a:r>
          </a:p>
          <a:p>
            <a:pPr lvl="1"/>
            <a:r>
              <a:t>     └ Compartimento: Sala 2</a:t>
            </a:r>
          </a:p>
          <a:p>
            <a:pPr lvl="1"/>
            <a:r>
              <a:t>          capacidade=30, área=45m², pavimento=1</a:t>
            </a:r>
          </a:p>
          <a:p>
            <a:pPr lvl="1"/>
            <a:r>
              <a:t>          └ Unidade: Bancada Norte</a:t>
            </a:r>
          </a:p>
          <a:p>
            <a:pPr lvl="1"/>
            <a:r>
              <a:t>     └ Sensor: SII-001</a:t>
            </a:r>
          </a:p>
          <a:p>
            <a:pPr lvl="1"/>
            <a:r>
              <a:t>          TipoDeSensor: Multissensor Sii Smart</a:t>
            </a:r>
          </a:p>
          <a:p>
            <a:pPr lvl="1"/>
            <a:r>
              <a:t>          ParametroDef: temperatura (°C, numeric)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Medição e Presença:</a:t>
            </a:r>
          </a:p>
          <a:p>
            <a:pPr lvl="1"/>
            <a:r>
              <a:t>Medição: 2026-03-06T10:00Z</a:t>
            </a:r>
          </a:p>
          <a:p>
            <a:pPr lvl="1"/>
            <a:r>
              <a:t>  source=SII-001, recebidoEm=10:00:01Z</a:t>
            </a:r>
          </a:p>
          <a:p>
            <a:pPr lvl="1"/>
            <a:r>
              <a:t>  ParametroValor: 23.4 (numeric)</a:t>
            </a:r>
          </a:p>
          <a:p>
            <a:pPr lvl="1"/>
            <a:r>
              <a:t>Pessoa: ravilon</a:t>
            </a:r>
          </a:p>
          <a:p>
            <a:pPr lvl="1"/>
            <a:r>
              <a:t>  email=ravilon@exemplo.com</a:t>
            </a:r>
          </a:p>
          <a:p>
            <a:pPr lvl="1"/>
            <a:r>
              <a:t>  matrícula=123456</a:t>
            </a:r>
          </a:p>
          <a:p>
            <a:pPr lvl="1"/>
            <a:r>
              <a:t>Presença: Sala 2 ← ravilon</a:t>
            </a:r>
          </a:p>
          <a:p>
            <a:pPr lvl="1"/>
            <a:r>
              <a:t>  checkin=10:00Z  checkout=12:00Z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APIs e Endpoints Disponíveis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Infraestrutura:</a:t>
            </a:r>
          </a:p>
          <a:p>
            <a:pPr lvl="1"/>
            <a:r>
              <a:t>POST /api/rooms/sync → sincroniza salas (Cobalto)</a:t>
            </a:r>
          </a:p>
          <a:p>
            <a:pPr lvl="1"/>
            <a:r>
              <a:t>POST /api/sensors/seed/from-resource → inicializa sensores</a:t>
            </a:r>
          </a:p>
          <a:p>
            <a:r>
              <a:t>Pessoas: POST / GET / PUT /api/pessoas</a:t>
            </a:r>
          </a:p>
          <a:p>
            <a:pPr lvl="1"/>
            <a:r>
              <a:t>POST /api/presencas/checkin e /checkout</a:t>
            </a:r>
          </a:p>
          <a:p>
            <a:pPr lvl="1"/>
            <a:r>
              <a:t>GET /api/presencas/ocupacao e /abertas/{roomId}</a:t>
            </a:r>
          </a:p>
          <a:p>
            <a:r>
              <a:t>Medições:</a:t>
            </a:r>
          </a:p>
          <a:p>
            <a:pPr lvl="1"/>
            <a:r>
              <a:t>POST /api/sensors/ingest/mock → dados de teste</a:t>
            </a:r>
          </a:p>
          <a:p>
            <a:pPr lvl="1"/>
            <a:r>
              <a:t>GET /api/sensors/{id}/medicoes/latest e histórico</a:t>
            </a:r>
          </a:p>
          <a:p>
            <a:pPr lvl="1"/>
            <a:r>
              <a:t>GET /api/rooms/{id}/medicoes/latest e histórico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Processamento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Camada 1 — Validação (imediata):</a:t>
            </a:r>
          </a:p>
          <a:p>
            <a:pPr lvl="1"/>
            <a:r>
              <a:t>Verificação de tipagem e integridade dos dados</a:t>
            </a:r>
          </a:p>
          <a:p>
            <a:pPr lvl="1"/>
            <a:r>
              <a:t>Rejeição de dados inválidos</a:t>
            </a:r>
          </a:p>
          <a:p>
            <a:r>
              <a:t>Camada 2 — Pré-processamento (até 8 segundos):</a:t>
            </a:r>
          </a:p>
          <a:p>
            <a:pPr lvl="1"/>
            <a:r>
              <a:t>Processamento em tempo real</a:t>
            </a:r>
          </a:p>
          <a:p>
            <a:pPr lvl="1"/>
            <a:r>
              <a:t>Armazenamento em MongoDB (brutos) e PostgreSQL (processados)</a:t>
            </a:r>
          </a:p>
          <a:p>
            <a:r>
              <a:t>Camada 3 — Pós-processamento (até 3 dias):</a:t>
            </a:r>
          </a:p>
          <a:p>
            <a:pPr lvl="1"/>
            <a:r>
              <a:t>Agregações para dashboards</a:t>
            </a:r>
          </a:p>
          <a:p>
            <a:pPr lvl="1"/>
            <a:r>
              <a:t>Cálculos por período (dia, semana, mês)</a:t>
            </a:r>
          </a:p>
          <a:p>
            <a:pPr lvl="1"/>
            <a:r>
              <a:t>Preparação para visualização e gamificação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Integração e Stack Tecnológico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Backend:</a:t>
            </a:r>
          </a:p>
          <a:p>
            <a:pPr lvl="1"/>
            <a:r>
              <a:t>Java 84.4% → Spring Boot</a:t>
            </a:r>
          </a:p>
          <a:p>
            <a:pPr lvl="1"/>
            <a:r>
              <a:t>API REST</a:t>
            </a:r>
          </a:p>
          <a:p>
            <a:pPr lvl="1"/>
            <a:r>
              <a:t>PostgreSQL → banco analítico</a:t>
            </a:r>
          </a:p>
          <a:p>
            <a:pPr lvl="1"/>
            <a:r>
              <a:t>MongoDB → banco NoSQL</a:t>
            </a:r>
          </a:p>
          <a:p>
            <a:pPr lvl="1"/>
            <a:r>
              <a:t>PowerShell 7.3% → testes E2E</a:t>
            </a:r>
          </a:p>
          <a:p>
            <a:pPr lvl="1"/>
            <a:r>
              <a:t>Python 6.6% → processamento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Integrações Externas:</a:t>
            </a:r>
          </a:p>
          <a:p>
            <a:pPr lvl="1"/>
            <a:r>
              <a:t>API Cobalto UFPEL → sincronização de salas</a:t>
            </a:r>
          </a:p>
          <a:p>
            <a:pPr lvl="1"/>
            <a:r>
              <a:t>Sensores Sii Smart → coleta IoT</a:t>
            </a:r>
          </a:p>
          <a:p>
            <a:pPr lvl="1"/>
            <a:r>
              <a:t>Sensores Externos → dados meteorológicos</a:t>
            </a:r>
          </a:p>
          <a:p>
            <a:r>
              <a:t>Ferramentas:</a:t>
            </a:r>
          </a:p>
          <a:p>
            <a:pPr lvl="1"/>
            <a:r>
              <a:t>Postman → documentação e testes</a:t>
            </a:r>
          </a:p>
          <a:p>
            <a:pPr lvl="1"/>
            <a:r>
              <a:t>Draw.io → modelagem 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Testes e Validação (E2E)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Fluxo de Teste End-to-End (Script PowerShell):</a:t>
            </a:r>
          </a:p>
          <a:p>
            <a:pPr lvl="1"/>
            <a:r>
              <a:t>Sincronização de salas e sensores</a:t>
            </a:r>
          </a:p>
          <a:p>
            <a:pPr lvl="1"/>
            <a:r>
              <a:t>Criação e atualização de usuários (pessoas)</a:t>
            </a:r>
          </a:p>
          <a:p>
            <a:pPr lvl="1"/>
            <a:r>
              <a:t>Check-in de presença em sala</a:t>
            </a:r>
          </a:p>
          <a:p>
            <a:pPr lvl="1"/>
            <a:r>
              <a:t>Ingestão de dados mock (PROCEL Ingestion)</a:t>
            </a:r>
          </a:p>
          <a:p>
            <a:pPr lvl="1"/>
            <a:r>
              <a:t>Consultas de medições: latest e histórico</a:t>
            </a:r>
          </a:p>
          <a:p>
            <a:pPr lvl="1"/>
            <a:r>
              <a:t>Verificação de ocupação da sala</a:t>
            </a:r>
          </a:p>
          <a:p>
            <a:pPr lvl="1"/>
            <a:r>
              <a:t>Check-out e validação pós-checkout</a:t>
            </a:r>
          </a:p>
          <a:p>
            <a:r>
              <a:t>Ambiente: srv1428963.hstgr.cloud:8080 | Sensor: SII-001 | Sala: ID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Benefícios entregues:</a:t>
            </a:r>
          </a:p>
          <a:p>
            <a:pPr lvl="1"/>
            <a:r>
              <a:t>Monitoramento em tempo real do consumo energético</a:t>
            </a:r>
          </a:p>
          <a:p>
            <a:pPr lvl="1"/>
            <a:r>
              <a:t>Rastreamento de ocupação para gestão de espaços</a:t>
            </a:r>
          </a:p>
          <a:p>
            <a:pPr lvl="1"/>
            <a:r>
              <a:t>Base de dados para análises e gamificação</a:t>
            </a:r>
          </a:p>
          <a:p>
            <a:r>
              <a:t>Arquitetura Flexível:</a:t>
            </a:r>
          </a:p>
          <a:p>
            <a:pPr lvl="1"/>
            <a:r>
              <a:t>Sistema parametrizável — suporta diferentes modelos de sensores</a:t>
            </a:r>
          </a:p>
          <a:p>
            <a:pPr lvl="1"/>
            <a:r>
              <a:t>Tipos de sensores e parâmetros configuráveis</a:t>
            </a:r>
          </a:p>
          <a:p>
            <a:pPr lvl="1"/>
            <a:r>
              <a:t>Adaptável a novas fontes sem alterações estruturais</a:t>
            </a:r>
          </a:p>
          <a:p>
            <a:r>
              <a:t>Próximos Passos:</a:t>
            </a:r>
          </a:p>
          <a:p>
            <a:pPr lvl="1"/>
            <a:r>
              <a:t>Implementar parser IoT com base no desenvolvimento dos sensores</a:t>
            </a:r>
          </a:p>
          <a:p>
            <a:pPr lvl="1"/>
            <a:r>
              <a:t>Desenvolver endpoints conforme demandas do time de gamificação</a:t>
            </a:r>
          </a:p>
          <a:p>
            <a:r>
              <a:t>GitHub: ravilon/PROCEL-Back-End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{D8BC0595-BF11-46A3-B9B5-01E1F630744C}TFf0a5ceae-4542-492d-822e-d65a94fb0e1e14bf61b7_win32-45a160150e4b</Template>
  <TotalTime>1340</TotalTime>
  <Words>852</Words>
  <Application>Microsoft Office PowerPoint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Franklin Gothic Book</vt:lpstr>
      <vt:lpstr>Personalizado</vt:lpstr>
      <vt:lpstr>PROCEL Back-End</vt:lpstr>
      <vt:lpstr>Visão Geral do Projeto</vt:lpstr>
      <vt:lpstr>Arquitetura do Sistema</vt:lpstr>
      <vt:lpstr>Dados Capturados pelos Sensores</vt:lpstr>
      <vt:lpstr>Modelo de Dados (DER)</vt:lpstr>
      <vt:lpstr>Exemplo de Instâncias do DER</vt:lpstr>
      <vt:lpstr>APIs e Endpoints Disponíveis</vt:lpstr>
      <vt:lpstr>Fluxo de Processamento de Dados</vt:lpstr>
      <vt:lpstr>Integração e Stack Tecnológico</vt:lpstr>
      <vt:lpstr>Testes e Validação (E2E)</vt:lpstr>
      <vt:lpstr>Conclusão e 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Aguiar, Ravilon</dc:creator>
  <cp:lastModifiedBy>Aguiar, Ravilon</cp:lastModifiedBy>
  <cp:revision>3</cp:revision>
  <dcterms:created xsi:type="dcterms:W3CDTF">2026-03-06T16:31:45Z</dcterms:created>
  <dcterms:modified xsi:type="dcterms:W3CDTF">2026-03-07T15:33:16Z</dcterms:modified>
</cp:coreProperties>
</file>